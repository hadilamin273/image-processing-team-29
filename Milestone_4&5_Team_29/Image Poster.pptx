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21374100" cy="15113000"/>
  <p:notesSz cx="6858000" cy="9144000"/>
  <p:embeddedFontLst>
    <p:embeddedFont>
      <p:font typeface="Canva Sans Bold" charset="1" panose="020B0803030501040103"/>
      <p:regular r:id="rId7"/>
    </p:embeddedFont>
    <p:embeddedFont>
      <p:font typeface="Canva Sans Medium" charset="1" panose="020B0603030501040103"/>
      <p:regular r:id="rId8"/>
    </p:embeddedFont>
    <p:embeddedFont>
      <p:font typeface="Canva Sans" charset="1" panose="020B0503030501040103"/>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BFB"/>
        </a:solidFill>
      </p:bgPr>
    </p:bg>
    <p:spTree>
      <p:nvGrpSpPr>
        <p:cNvPr id="1" name=""/>
        <p:cNvGrpSpPr/>
        <p:nvPr/>
      </p:nvGrpSpPr>
      <p:grpSpPr>
        <a:xfrm>
          <a:off x="0" y="0"/>
          <a:ext cx="0" cy="0"/>
          <a:chOff x="0" y="0"/>
          <a:chExt cx="0" cy="0"/>
        </a:xfrm>
      </p:grpSpPr>
      <p:sp>
        <p:nvSpPr>
          <p:cNvPr name="AutoShape 2" id="2"/>
          <p:cNvSpPr/>
          <p:nvPr/>
        </p:nvSpPr>
        <p:spPr>
          <a:xfrm flipV="true">
            <a:off x="0" y="2120462"/>
            <a:ext cx="21384000" cy="0"/>
          </a:xfrm>
          <a:prstGeom prst="line">
            <a:avLst/>
          </a:prstGeom>
          <a:ln cap="flat" w="28575">
            <a:solidFill>
              <a:srgbClr val="3A2947"/>
            </a:solidFill>
            <a:prstDash val="solid"/>
            <a:headEnd type="none" len="sm" w="sm"/>
            <a:tailEnd type="none" len="sm" w="sm"/>
          </a:ln>
        </p:spPr>
      </p:sp>
      <p:grpSp>
        <p:nvGrpSpPr>
          <p:cNvPr name="Group 3" id="3"/>
          <p:cNvGrpSpPr/>
          <p:nvPr/>
        </p:nvGrpSpPr>
        <p:grpSpPr>
          <a:xfrm rot="0">
            <a:off x="543897" y="2664358"/>
            <a:ext cx="3734027" cy="635613"/>
            <a:chOff x="0" y="0"/>
            <a:chExt cx="669096" cy="113895"/>
          </a:xfrm>
        </p:grpSpPr>
        <p:sp>
          <p:nvSpPr>
            <p:cNvPr name="Freeform 4" id="4"/>
            <p:cNvSpPr/>
            <p:nvPr/>
          </p:nvSpPr>
          <p:spPr>
            <a:xfrm flipH="false" flipV="false" rot="0">
              <a:off x="0" y="0"/>
              <a:ext cx="669096" cy="113895"/>
            </a:xfrm>
            <a:custGeom>
              <a:avLst/>
              <a:gdLst/>
              <a:ahLst/>
              <a:cxnLst/>
              <a:rect r="r" b="b" t="t" l="l"/>
              <a:pathLst>
                <a:path h="113895" w="669096">
                  <a:moveTo>
                    <a:pt x="47687" y="0"/>
                  </a:moveTo>
                  <a:lnTo>
                    <a:pt x="621409" y="0"/>
                  </a:lnTo>
                  <a:cubicBezTo>
                    <a:pt x="647745" y="0"/>
                    <a:pt x="669096" y="21350"/>
                    <a:pt x="669096" y="47687"/>
                  </a:cubicBezTo>
                  <a:lnTo>
                    <a:pt x="669096" y="66208"/>
                  </a:lnTo>
                  <a:cubicBezTo>
                    <a:pt x="669096" y="78855"/>
                    <a:pt x="664071" y="90984"/>
                    <a:pt x="655128" y="99928"/>
                  </a:cubicBezTo>
                  <a:cubicBezTo>
                    <a:pt x="646185" y="108871"/>
                    <a:pt x="634056" y="113895"/>
                    <a:pt x="621409" y="113895"/>
                  </a:cubicBezTo>
                  <a:lnTo>
                    <a:pt x="47687" y="113895"/>
                  </a:lnTo>
                  <a:cubicBezTo>
                    <a:pt x="35040" y="113895"/>
                    <a:pt x="22910" y="108871"/>
                    <a:pt x="13967" y="99928"/>
                  </a:cubicBezTo>
                  <a:cubicBezTo>
                    <a:pt x="5024" y="90984"/>
                    <a:pt x="0" y="78855"/>
                    <a:pt x="0" y="66208"/>
                  </a:cubicBezTo>
                  <a:lnTo>
                    <a:pt x="0" y="47687"/>
                  </a:lnTo>
                  <a:cubicBezTo>
                    <a:pt x="0" y="35040"/>
                    <a:pt x="5024" y="22910"/>
                    <a:pt x="13967" y="13967"/>
                  </a:cubicBezTo>
                  <a:cubicBezTo>
                    <a:pt x="22910" y="5024"/>
                    <a:pt x="35040" y="0"/>
                    <a:pt x="47687" y="0"/>
                  </a:cubicBezTo>
                  <a:close/>
                </a:path>
              </a:pathLst>
            </a:custGeom>
            <a:solidFill>
              <a:srgbClr val="B0455B"/>
            </a:solidFill>
            <a:ln w="28575" cap="rnd">
              <a:solidFill>
                <a:srgbClr val="3A2947"/>
              </a:solidFill>
              <a:prstDash val="solid"/>
              <a:round/>
            </a:ln>
          </p:spPr>
        </p:sp>
        <p:sp>
          <p:nvSpPr>
            <p:cNvPr name="TextBox 5" id="5"/>
            <p:cNvSpPr txBox="true"/>
            <p:nvPr/>
          </p:nvSpPr>
          <p:spPr>
            <a:xfrm>
              <a:off x="0" y="-38100"/>
              <a:ext cx="669096" cy="151995"/>
            </a:xfrm>
            <a:prstGeom prst="rect">
              <a:avLst/>
            </a:prstGeom>
          </p:spPr>
          <p:txBody>
            <a:bodyPr anchor="ctr" rtlCol="false" tIns="50800" lIns="50800" bIns="50800" rIns="50800"/>
            <a:lstStyle/>
            <a:p>
              <a:pPr algn="ctr">
                <a:lnSpc>
                  <a:spcPts val="3079"/>
                </a:lnSpc>
              </a:pPr>
            </a:p>
          </p:txBody>
        </p:sp>
      </p:grpSp>
      <p:sp>
        <p:nvSpPr>
          <p:cNvPr name="AutoShape 6" id="6"/>
          <p:cNvSpPr/>
          <p:nvPr/>
        </p:nvSpPr>
        <p:spPr>
          <a:xfrm>
            <a:off x="3929909" y="3402842"/>
            <a:ext cx="348015" cy="0"/>
          </a:xfrm>
          <a:prstGeom prst="line">
            <a:avLst/>
          </a:prstGeom>
          <a:ln cap="flat" w="28575">
            <a:solidFill>
              <a:srgbClr val="3A2947"/>
            </a:solidFill>
            <a:prstDash val="solid"/>
            <a:headEnd type="none" len="sm" w="sm"/>
            <a:tailEnd type="none" len="sm" w="sm"/>
          </a:ln>
        </p:spPr>
      </p:sp>
      <p:sp>
        <p:nvSpPr>
          <p:cNvPr name="Freeform 7" id="7"/>
          <p:cNvSpPr/>
          <p:nvPr/>
        </p:nvSpPr>
        <p:spPr>
          <a:xfrm>
            <a:off x="559123" y="3383476"/>
            <a:ext cx="3899547" cy="11178339"/>
          </a:xfrm>
          <a:custGeom>
            <a:avLst/>
            <a:gdLst/>
            <a:ahLst/>
            <a:cxnLst/>
            <a:rect r="r" b="b" t="t" l="l"/>
            <a:pathLst>
              <a:path h="11178339" w="3899547">
                <a:moveTo>
                  <a:pt x="0" y="0"/>
                </a:moveTo>
                <a:lnTo>
                  <a:pt x="0" y="10949739"/>
                </a:lnTo>
                <a:cubicBezTo>
                  <a:pt x="0" y="11010368"/>
                  <a:pt x="24085" y="11068513"/>
                  <a:pt x="66955" y="11111383"/>
                </a:cubicBezTo>
                <a:cubicBezTo>
                  <a:pt x="109826" y="11154255"/>
                  <a:pt x="167972" y="11178339"/>
                  <a:pt x="228600" y="11178339"/>
                </a:cubicBezTo>
                <a:lnTo>
                  <a:pt x="3670947" y="11178339"/>
                </a:lnTo>
                <a:cubicBezTo>
                  <a:pt x="3797199" y="11178339"/>
                  <a:pt x="3899547" y="11075992"/>
                  <a:pt x="3899547" y="10949739"/>
                </a:cubicBezTo>
                <a:lnTo>
                  <a:pt x="3899547" y="428513"/>
                </a:lnTo>
                <a:cubicBezTo>
                  <a:pt x="3899547" y="330550"/>
                  <a:pt x="3820133" y="251136"/>
                  <a:pt x="3722170" y="251136"/>
                </a:cubicBezTo>
                <a:lnTo>
                  <a:pt x="3660679" y="251136"/>
                </a:lnTo>
                <a:cubicBezTo>
                  <a:pt x="3596677" y="251136"/>
                  <a:pt x="3544794" y="199253"/>
                  <a:pt x="3544794" y="135251"/>
                </a:cubicBezTo>
                <a:lnTo>
                  <a:pt x="3544794" y="19366"/>
                </a:lnTo>
              </a:path>
            </a:pathLst>
          </a:custGeom>
          <a:ln cap="flat" w="28575">
            <a:solidFill>
              <a:srgbClr val="3A2947"/>
            </a:solidFill>
            <a:prstDash val="solid"/>
            <a:headEnd type="none" len="sm" w="sm"/>
            <a:tailEnd type="none" len="sm" w="sm"/>
          </a:ln>
        </p:spPr>
      </p:sp>
      <p:grpSp>
        <p:nvGrpSpPr>
          <p:cNvPr name="Group 8" id="8"/>
          <p:cNvGrpSpPr/>
          <p:nvPr/>
        </p:nvGrpSpPr>
        <p:grpSpPr>
          <a:xfrm rot="0">
            <a:off x="16939872" y="2666454"/>
            <a:ext cx="3734027" cy="635613"/>
            <a:chOff x="0" y="0"/>
            <a:chExt cx="669096" cy="113895"/>
          </a:xfrm>
        </p:grpSpPr>
        <p:sp>
          <p:nvSpPr>
            <p:cNvPr name="Freeform 9" id="9"/>
            <p:cNvSpPr/>
            <p:nvPr/>
          </p:nvSpPr>
          <p:spPr>
            <a:xfrm flipH="false" flipV="false" rot="0">
              <a:off x="0" y="0"/>
              <a:ext cx="669096" cy="113895"/>
            </a:xfrm>
            <a:custGeom>
              <a:avLst/>
              <a:gdLst/>
              <a:ahLst/>
              <a:cxnLst/>
              <a:rect r="r" b="b" t="t" l="l"/>
              <a:pathLst>
                <a:path h="113895" w="669096">
                  <a:moveTo>
                    <a:pt x="47687" y="0"/>
                  </a:moveTo>
                  <a:lnTo>
                    <a:pt x="621409" y="0"/>
                  </a:lnTo>
                  <a:cubicBezTo>
                    <a:pt x="647745" y="0"/>
                    <a:pt x="669096" y="21350"/>
                    <a:pt x="669096" y="47687"/>
                  </a:cubicBezTo>
                  <a:lnTo>
                    <a:pt x="669096" y="66208"/>
                  </a:lnTo>
                  <a:cubicBezTo>
                    <a:pt x="669096" y="78855"/>
                    <a:pt x="664071" y="90984"/>
                    <a:pt x="655128" y="99928"/>
                  </a:cubicBezTo>
                  <a:cubicBezTo>
                    <a:pt x="646185" y="108871"/>
                    <a:pt x="634056" y="113895"/>
                    <a:pt x="621409" y="113895"/>
                  </a:cubicBezTo>
                  <a:lnTo>
                    <a:pt x="47687" y="113895"/>
                  </a:lnTo>
                  <a:cubicBezTo>
                    <a:pt x="35040" y="113895"/>
                    <a:pt x="22910" y="108871"/>
                    <a:pt x="13967" y="99928"/>
                  </a:cubicBezTo>
                  <a:cubicBezTo>
                    <a:pt x="5024" y="90984"/>
                    <a:pt x="0" y="78855"/>
                    <a:pt x="0" y="66208"/>
                  </a:cubicBezTo>
                  <a:lnTo>
                    <a:pt x="0" y="47687"/>
                  </a:lnTo>
                  <a:cubicBezTo>
                    <a:pt x="0" y="35040"/>
                    <a:pt x="5024" y="22910"/>
                    <a:pt x="13967" y="13967"/>
                  </a:cubicBezTo>
                  <a:cubicBezTo>
                    <a:pt x="22910" y="5024"/>
                    <a:pt x="35040" y="0"/>
                    <a:pt x="47687" y="0"/>
                  </a:cubicBezTo>
                  <a:close/>
                </a:path>
              </a:pathLst>
            </a:custGeom>
            <a:solidFill>
              <a:srgbClr val="B0455B"/>
            </a:solidFill>
            <a:ln w="28575" cap="rnd">
              <a:solidFill>
                <a:srgbClr val="3A2947"/>
              </a:solidFill>
              <a:prstDash val="solid"/>
              <a:round/>
            </a:ln>
          </p:spPr>
        </p:sp>
        <p:sp>
          <p:nvSpPr>
            <p:cNvPr name="TextBox 10" id="10"/>
            <p:cNvSpPr txBox="true"/>
            <p:nvPr/>
          </p:nvSpPr>
          <p:spPr>
            <a:xfrm>
              <a:off x="0" y="-38100"/>
              <a:ext cx="669096" cy="151995"/>
            </a:xfrm>
            <a:prstGeom prst="rect">
              <a:avLst/>
            </a:prstGeom>
          </p:spPr>
          <p:txBody>
            <a:bodyPr anchor="ctr" rtlCol="false" tIns="50800" lIns="50800" bIns="50800" rIns="50800"/>
            <a:lstStyle/>
            <a:p>
              <a:pPr algn="ctr">
                <a:lnSpc>
                  <a:spcPts val="3079"/>
                </a:lnSpc>
              </a:pPr>
            </a:p>
          </p:txBody>
        </p:sp>
      </p:grpSp>
      <p:sp>
        <p:nvSpPr>
          <p:cNvPr name="AutoShape 11" id="11"/>
          <p:cNvSpPr/>
          <p:nvPr/>
        </p:nvSpPr>
        <p:spPr>
          <a:xfrm>
            <a:off x="20325884" y="3404938"/>
            <a:ext cx="348015" cy="0"/>
          </a:xfrm>
          <a:prstGeom prst="line">
            <a:avLst/>
          </a:prstGeom>
          <a:ln cap="flat" w="28575">
            <a:solidFill>
              <a:srgbClr val="3A2947"/>
            </a:solidFill>
            <a:prstDash val="solid"/>
            <a:headEnd type="none" len="sm" w="sm"/>
            <a:tailEnd type="none" len="sm" w="sm"/>
          </a:ln>
        </p:spPr>
      </p:sp>
      <p:sp>
        <p:nvSpPr>
          <p:cNvPr name="Freeform 12" id="12"/>
          <p:cNvSpPr/>
          <p:nvPr/>
        </p:nvSpPr>
        <p:spPr>
          <a:xfrm>
            <a:off x="16955098" y="3385572"/>
            <a:ext cx="3899546" cy="6446450"/>
          </a:xfrm>
          <a:custGeom>
            <a:avLst/>
            <a:gdLst/>
            <a:ahLst/>
            <a:cxnLst/>
            <a:rect r="r" b="b" t="t" l="l"/>
            <a:pathLst>
              <a:path h="6446450" w="3899546">
                <a:moveTo>
                  <a:pt x="0" y="0"/>
                </a:moveTo>
                <a:lnTo>
                  <a:pt x="0" y="6217850"/>
                </a:lnTo>
                <a:cubicBezTo>
                  <a:pt x="0" y="6278478"/>
                  <a:pt x="24086" y="6336624"/>
                  <a:pt x="66956" y="6379494"/>
                </a:cubicBezTo>
                <a:cubicBezTo>
                  <a:pt x="109826" y="6422365"/>
                  <a:pt x="167972" y="6446450"/>
                  <a:pt x="228600" y="6446450"/>
                </a:cubicBezTo>
                <a:lnTo>
                  <a:pt x="3670947" y="6446450"/>
                </a:lnTo>
                <a:cubicBezTo>
                  <a:pt x="3797200" y="6446450"/>
                  <a:pt x="3899547" y="6344102"/>
                  <a:pt x="3899547" y="6217850"/>
                </a:cubicBezTo>
                <a:lnTo>
                  <a:pt x="3899547" y="428512"/>
                </a:lnTo>
                <a:cubicBezTo>
                  <a:pt x="3899547" y="381469"/>
                  <a:pt x="3880860" y="336352"/>
                  <a:pt x="3847595" y="303088"/>
                </a:cubicBezTo>
                <a:cubicBezTo>
                  <a:pt x="3814330" y="269823"/>
                  <a:pt x="3769214" y="251135"/>
                  <a:pt x="3722170" y="251135"/>
                </a:cubicBezTo>
                <a:lnTo>
                  <a:pt x="3660678" y="251135"/>
                </a:lnTo>
                <a:cubicBezTo>
                  <a:pt x="3596677" y="251135"/>
                  <a:pt x="3544793" y="199252"/>
                  <a:pt x="3544793" y="135251"/>
                </a:cubicBezTo>
                <a:lnTo>
                  <a:pt x="3544793" y="19366"/>
                </a:lnTo>
              </a:path>
            </a:pathLst>
          </a:custGeom>
          <a:ln cap="flat" w="28575">
            <a:solidFill>
              <a:srgbClr val="3A2947"/>
            </a:solidFill>
            <a:prstDash val="solid"/>
            <a:headEnd type="none" len="sm" w="sm"/>
            <a:tailEnd type="none" len="sm" w="sm"/>
          </a:ln>
        </p:spPr>
      </p:sp>
      <p:grpSp>
        <p:nvGrpSpPr>
          <p:cNvPr name="Group 13" id="13"/>
          <p:cNvGrpSpPr/>
          <p:nvPr/>
        </p:nvGrpSpPr>
        <p:grpSpPr>
          <a:xfrm rot="0">
            <a:off x="4634318" y="2668550"/>
            <a:ext cx="3734027" cy="635613"/>
            <a:chOff x="0" y="0"/>
            <a:chExt cx="669096" cy="113895"/>
          </a:xfrm>
        </p:grpSpPr>
        <p:sp>
          <p:nvSpPr>
            <p:cNvPr name="Freeform 14" id="14"/>
            <p:cNvSpPr/>
            <p:nvPr/>
          </p:nvSpPr>
          <p:spPr>
            <a:xfrm flipH="false" flipV="false" rot="0">
              <a:off x="0" y="0"/>
              <a:ext cx="669096" cy="113895"/>
            </a:xfrm>
            <a:custGeom>
              <a:avLst/>
              <a:gdLst/>
              <a:ahLst/>
              <a:cxnLst/>
              <a:rect r="r" b="b" t="t" l="l"/>
              <a:pathLst>
                <a:path h="113895" w="669096">
                  <a:moveTo>
                    <a:pt x="47687" y="0"/>
                  </a:moveTo>
                  <a:lnTo>
                    <a:pt x="621409" y="0"/>
                  </a:lnTo>
                  <a:cubicBezTo>
                    <a:pt x="647745" y="0"/>
                    <a:pt x="669096" y="21350"/>
                    <a:pt x="669096" y="47687"/>
                  </a:cubicBezTo>
                  <a:lnTo>
                    <a:pt x="669096" y="66208"/>
                  </a:lnTo>
                  <a:cubicBezTo>
                    <a:pt x="669096" y="78855"/>
                    <a:pt x="664071" y="90984"/>
                    <a:pt x="655128" y="99928"/>
                  </a:cubicBezTo>
                  <a:cubicBezTo>
                    <a:pt x="646185" y="108871"/>
                    <a:pt x="634056" y="113895"/>
                    <a:pt x="621409" y="113895"/>
                  </a:cubicBezTo>
                  <a:lnTo>
                    <a:pt x="47687" y="113895"/>
                  </a:lnTo>
                  <a:cubicBezTo>
                    <a:pt x="35040" y="113895"/>
                    <a:pt x="22910" y="108871"/>
                    <a:pt x="13967" y="99928"/>
                  </a:cubicBezTo>
                  <a:cubicBezTo>
                    <a:pt x="5024" y="90984"/>
                    <a:pt x="0" y="78855"/>
                    <a:pt x="0" y="66208"/>
                  </a:cubicBezTo>
                  <a:lnTo>
                    <a:pt x="0" y="47687"/>
                  </a:lnTo>
                  <a:cubicBezTo>
                    <a:pt x="0" y="35040"/>
                    <a:pt x="5024" y="22910"/>
                    <a:pt x="13967" y="13967"/>
                  </a:cubicBezTo>
                  <a:cubicBezTo>
                    <a:pt x="22910" y="5024"/>
                    <a:pt x="35040" y="0"/>
                    <a:pt x="47687" y="0"/>
                  </a:cubicBezTo>
                  <a:close/>
                </a:path>
              </a:pathLst>
            </a:custGeom>
            <a:solidFill>
              <a:srgbClr val="B0455B"/>
            </a:solidFill>
            <a:ln w="28575" cap="rnd">
              <a:solidFill>
                <a:srgbClr val="3A2947"/>
              </a:solidFill>
              <a:prstDash val="solid"/>
              <a:round/>
            </a:ln>
          </p:spPr>
        </p:sp>
        <p:sp>
          <p:nvSpPr>
            <p:cNvPr name="TextBox 15" id="15"/>
            <p:cNvSpPr txBox="true"/>
            <p:nvPr/>
          </p:nvSpPr>
          <p:spPr>
            <a:xfrm>
              <a:off x="0" y="-38100"/>
              <a:ext cx="669096" cy="151995"/>
            </a:xfrm>
            <a:prstGeom prst="rect">
              <a:avLst/>
            </a:prstGeom>
          </p:spPr>
          <p:txBody>
            <a:bodyPr anchor="ctr" rtlCol="false" tIns="50800" lIns="50800" bIns="50800" rIns="50800"/>
            <a:lstStyle/>
            <a:p>
              <a:pPr algn="ctr">
                <a:lnSpc>
                  <a:spcPts val="3079"/>
                </a:lnSpc>
              </a:pPr>
            </a:p>
          </p:txBody>
        </p:sp>
      </p:grpSp>
      <p:sp>
        <p:nvSpPr>
          <p:cNvPr name="AutoShape 16" id="16"/>
          <p:cNvSpPr/>
          <p:nvPr/>
        </p:nvSpPr>
        <p:spPr>
          <a:xfrm>
            <a:off x="8020331" y="3407033"/>
            <a:ext cx="348015" cy="0"/>
          </a:xfrm>
          <a:prstGeom prst="line">
            <a:avLst/>
          </a:prstGeom>
          <a:ln cap="flat" w="28575">
            <a:solidFill>
              <a:srgbClr val="3A2947"/>
            </a:solidFill>
            <a:prstDash val="solid"/>
            <a:headEnd type="none" len="sm" w="sm"/>
            <a:tailEnd type="none" len="sm" w="sm"/>
          </a:ln>
        </p:spPr>
      </p:sp>
      <p:sp>
        <p:nvSpPr>
          <p:cNvPr name="Freeform 17" id="17"/>
          <p:cNvSpPr/>
          <p:nvPr/>
        </p:nvSpPr>
        <p:spPr>
          <a:xfrm>
            <a:off x="4649545" y="3387667"/>
            <a:ext cx="12096862" cy="6444354"/>
          </a:xfrm>
          <a:custGeom>
            <a:avLst/>
            <a:gdLst/>
            <a:ahLst/>
            <a:cxnLst/>
            <a:rect r="r" b="b" t="t" l="l"/>
            <a:pathLst>
              <a:path h="6444354" w="12096862">
                <a:moveTo>
                  <a:pt x="0" y="0"/>
                </a:moveTo>
                <a:lnTo>
                  <a:pt x="0" y="6215755"/>
                </a:lnTo>
                <a:cubicBezTo>
                  <a:pt x="0" y="6276383"/>
                  <a:pt x="24084" y="6334529"/>
                  <a:pt x="66955" y="6377399"/>
                </a:cubicBezTo>
                <a:cubicBezTo>
                  <a:pt x="109826" y="6420270"/>
                  <a:pt x="167971" y="6444355"/>
                  <a:pt x="228600" y="6444355"/>
                </a:cubicBezTo>
                <a:lnTo>
                  <a:pt x="11868262" y="6444355"/>
                </a:lnTo>
                <a:cubicBezTo>
                  <a:pt x="11994515" y="6444355"/>
                  <a:pt x="12096862" y="6342007"/>
                  <a:pt x="12096862" y="6215755"/>
                </a:cubicBezTo>
                <a:lnTo>
                  <a:pt x="12096862" y="479736"/>
                </a:lnTo>
                <a:cubicBezTo>
                  <a:pt x="12096862" y="419108"/>
                  <a:pt x="12072778" y="360962"/>
                  <a:pt x="12029907" y="318091"/>
                </a:cubicBezTo>
                <a:cubicBezTo>
                  <a:pt x="11987036" y="275221"/>
                  <a:pt x="11928891" y="251136"/>
                  <a:pt x="11868262" y="251136"/>
                </a:cubicBezTo>
                <a:lnTo>
                  <a:pt x="3660679" y="251136"/>
                </a:lnTo>
                <a:cubicBezTo>
                  <a:pt x="3596677" y="251136"/>
                  <a:pt x="3544794" y="199252"/>
                  <a:pt x="3544794" y="135251"/>
                </a:cubicBezTo>
                <a:lnTo>
                  <a:pt x="3544794" y="19366"/>
                </a:lnTo>
              </a:path>
            </a:pathLst>
          </a:custGeom>
          <a:ln cap="flat" w="28575">
            <a:solidFill>
              <a:srgbClr val="3A2947"/>
            </a:solidFill>
            <a:prstDash val="solid"/>
            <a:headEnd type="none" len="sm" w="sm"/>
            <a:tailEnd type="none" len="sm" w="sm"/>
          </a:ln>
        </p:spPr>
      </p:sp>
      <p:grpSp>
        <p:nvGrpSpPr>
          <p:cNvPr name="Group 18" id="18"/>
          <p:cNvGrpSpPr/>
          <p:nvPr/>
        </p:nvGrpSpPr>
        <p:grpSpPr>
          <a:xfrm rot="0">
            <a:off x="4648606" y="10465434"/>
            <a:ext cx="4105648" cy="635613"/>
            <a:chOff x="0" y="0"/>
            <a:chExt cx="735686" cy="113895"/>
          </a:xfrm>
        </p:grpSpPr>
        <p:sp>
          <p:nvSpPr>
            <p:cNvPr name="Freeform 19" id="19"/>
            <p:cNvSpPr/>
            <p:nvPr/>
          </p:nvSpPr>
          <p:spPr>
            <a:xfrm flipH="false" flipV="false" rot="0">
              <a:off x="0" y="0"/>
              <a:ext cx="735686" cy="113895"/>
            </a:xfrm>
            <a:custGeom>
              <a:avLst/>
              <a:gdLst/>
              <a:ahLst/>
              <a:cxnLst/>
              <a:rect r="r" b="b" t="t" l="l"/>
              <a:pathLst>
                <a:path h="113895" w="735686">
                  <a:moveTo>
                    <a:pt x="43371" y="0"/>
                  </a:moveTo>
                  <a:lnTo>
                    <a:pt x="692315" y="0"/>
                  </a:lnTo>
                  <a:cubicBezTo>
                    <a:pt x="703818" y="0"/>
                    <a:pt x="714849" y="4569"/>
                    <a:pt x="722983" y="12703"/>
                  </a:cubicBezTo>
                  <a:cubicBezTo>
                    <a:pt x="731116" y="20836"/>
                    <a:pt x="735686" y="31868"/>
                    <a:pt x="735686" y="43371"/>
                  </a:cubicBezTo>
                  <a:lnTo>
                    <a:pt x="735686" y="70524"/>
                  </a:lnTo>
                  <a:cubicBezTo>
                    <a:pt x="735686" y="82027"/>
                    <a:pt x="731116" y="93058"/>
                    <a:pt x="722983" y="101192"/>
                  </a:cubicBezTo>
                  <a:cubicBezTo>
                    <a:pt x="714849" y="109325"/>
                    <a:pt x="703818" y="113895"/>
                    <a:pt x="692315" y="113895"/>
                  </a:cubicBezTo>
                  <a:lnTo>
                    <a:pt x="43371" y="113895"/>
                  </a:lnTo>
                  <a:cubicBezTo>
                    <a:pt x="31868" y="113895"/>
                    <a:pt x="20836" y="109325"/>
                    <a:pt x="12703" y="101192"/>
                  </a:cubicBezTo>
                  <a:cubicBezTo>
                    <a:pt x="4569" y="93058"/>
                    <a:pt x="0" y="82027"/>
                    <a:pt x="0" y="70524"/>
                  </a:cubicBezTo>
                  <a:lnTo>
                    <a:pt x="0" y="43371"/>
                  </a:lnTo>
                  <a:cubicBezTo>
                    <a:pt x="0" y="31868"/>
                    <a:pt x="4569" y="20836"/>
                    <a:pt x="12703" y="12703"/>
                  </a:cubicBezTo>
                  <a:cubicBezTo>
                    <a:pt x="20836" y="4569"/>
                    <a:pt x="31868" y="0"/>
                    <a:pt x="43371" y="0"/>
                  </a:cubicBezTo>
                  <a:close/>
                </a:path>
              </a:pathLst>
            </a:custGeom>
            <a:solidFill>
              <a:srgbClr val="B0455B"/>
            </a:solidFill>
            <a:ln w="28575" cap="rnd">
              <a:solidFill>
                <a:srgbClr val="3A2947"/>
              </a:solidFill>
              <a:prstDash val="solid"/>
              <a:round/>
            </a:ln>
          </p:spPr>
        </p:sp>
        <p:sp>
          <p:nvSpPr>
            <p:cNvPr name="TextBox 20" id="20"/>
            <p:cNvSpPr txBox="true"/>
            <p:nvPr/>
          </p:nvSpPr>
          <p:spPr>
            <a:xfrm>
              <a:off x="0" y="-38100"/>
              <a:ext cx="735686" cy="151995"/>
            </a:xfrm>
            <a:prstGeom prst="rect">
              <a:avLst/>
            </a:prstGeom>
          </p:spPr>
          <p:txBody>
            <a:bodyPr anchor="ctr" rtlCol="false" tIns="50800" lIns="50800" bIns="50800" rIns="50800"/>
            <a:lstStyle/>
            <a:p>
              <a:pPr algn="ctr">
                <a:lnSpc>
                  <a:spcPts val="3079"/>
                </a:lnSpc>
              </a:pPr>
            </a:p>
          </p:txBody>
        </p:sp>
      </p:grpSp>
      <p:sp>
        <p:nvSpPr>
          <p:cNvPr name="AutoShape 21" id="21"/>
          <p:cNvSpPr/>
          <p:nvPr/>
        </p:nvSpPr>
        <p:spPr>
          <a:xfrm>
            <a:off x="8499729" y="11215731"/>
            <a:ext cx="348015" cy="0"/>
          </a:xfrm>
          <a:prstGeom prst="line">
            <a:avLst/>
          </a:prstGeom>
          <a:ln cap="flat" w="28575">
            <a:solidFill>
              <a:srgbClr val="3A2947"/>
            </a:solidFill>
            <a:prstDash val="solid"/>
            <a:headEnd type="none" len="sm" w="sm"/>
            <a:tailEnd type="none" len="sm" w="sm"/>
          </a:ln>
        </p:spPr>
      </p:sp>
      <p:sp>
        <p:nvSpPr>
          <p:cNvPr name="Freeform 22" id="22"/>
          <p:cNvSpPr/>
          <p:nvPr/>
        </p:nvSpPr>
        <p:spPr>
          <a:xfrm>
            <a:off x="4648606" y="11215731"/>
            <a:ext cx="16177064" cy="2285265"/>
          </a:xfrm>
          <a:custGeom>
            <a:avLst/>
            <a:gdLst/>
            <a:ahLst/>
            <a:cxnLst/>
            <a:rect r="r" b="b" t="t" l="l"/>
            <a:pathLst>
              <a:path h="2285265" w="16177064">
                <a:moveTo>
                  <a:pt x="0" y="0"/>
                </a:moveTo>
                <a:lnTo>
                  <a:pt x="0" y="2056665"/>
                </a:lnTo>
                <a:cubicBezTo>
                  <a:pt x="0" y="2182918"/>
                  <a:pt x="102348" y="2285265"/>
                  <a:pt x="228600" y="2285265"/>
                </a:cubicBezTo>
                <a:lnTo>
                  <a:pt x="15948464" y="2285265"/>
                </a:lnTo>
                <a:cubicBezTo>
                  <a:pt x="16009093" y="2285265"/>
                  <a:pt x="16067238" y="2261181"/>
                  <a:pt x="16110108" y="2218309"/>
                </a:cubicBezTo>
                <a:cubicBezTo>
                  <a:pt x="16152980" y="2175439"/>
                  <a:pt x="16177064" y="2117294"/>
                  <a:pt x="16177064" y="2056665"/>
                </a:cubicBezTo>
                <a:lnTo>
                  <a:pt x="16177064" y="450283"/>
                </a:lnTo>
                <a:cubicBezTo>
                  <a:pt x="16177064" y="389654"/>
                  <a:pt x="16152980" y="331508"/>
                  <a:pt x="16110108" y="288638"/>
                </a:cubicBezTo>
                <a:cubicBezTo>
                  <a:pt x="16067238" y="245767"/>
                  <a:pt x="16009093" y="221683"/>
                  <a:pt x="15948464" y="221683"/>
                </a:cubicBezTo>
                <a:lnTo>
                  <a:pt x="4135972" y="221683"/>
                </a:lnTo>
                <a:cubicBezTo>
                  <a:pt x="4106575" y="221683"/>
                  <a:pt x="4078382" y="210005"/>
                  <a:pt x="4057595" y="189218"/>
                </a:cubicBezTo>
                <a:cubicBezTo>
                  <a:pt x="4036808" y="168431"/>
                  <a:pt x="4025130" y="140238"/>
                  <a:pt x="4025130" y="110841"/>
                </a:cubicBezTo>
                <a:lnTo>
                  <a:pt x="4025130" y="0"/>
                </a:lnTo>
              </a:path>
            </a:pathLst>
          </a:custGeom>
          <a:ln cap="flat" w="28575">
            <a:solidFill>
              <a:srgbClr val="3A2947"/>
            </a:solidFill>
            <a:prstDash val="solid"/>
            <a:headEnd type="none" len="sm" w="sm"/>
            <a:tailEnd type="none" len="sm" w="sm"/>
          </a:ln>
        </p:spPr>
      </p:sp>
      <p:sp>
        <p:nvSpPr>
          <p:cNvPr name="Freeform 23" id="23"/>
          <p:cNvSpPr/>
          <p:nvPr/>
        </p:nvSpPr>
        <p:spPr>
          <a:xfrm flipH="false" flipV="false" rot="0">
            <a:off x="-5726" y="-19978"/>
            <a:ext cx="1956750" cy="2129672"/>
          </a:xfrm>
          <a:custGeom>
            <a:avLst/>
            <a:gdLst/>
            <a:ahLst/>
            <a:cxnLst/>
            <a:rect r="r" b="b" t="t" l="l"/>
            <a:pathLst>
              <a:path h="2129672" w="1956750">
                <a:moveTo>
                  <a:pt x="0" y="0"/>
                </a:moveTo>
                <a:lnTo>
                  <a:pt x="1956750" y="0"/>
                </a:lnTo>
                <a:lnTo>
                  <a:pt x="1956750" y="2129672"/>
                </a:lnTo>
                <a:lnTo>
                  <a:pt x="0" y="2129672"/>
                </a:lnTo>
                <a:lnTo>
                  <a:pt x="0" y="0"/>
                </a:lnTo>
                <a:close/>
              </a:path>
            </a:pathLst>
          </a:custGeom>
          <a:blipFill>
            <a:blip r:embed="rId2"/>
            <a:stretch>
              <a:fillRect l="0" t="0" r="0" b="0"/>
            </a:stretch>
          </a:blipFill>
        </p:spPr>
      </p:sp>
      <p:sp>
        <p:nvSpPr>
          <p:cNvPr name="Freeform 24" id="24"/>
          <p:cNvSpPr/>
          <p:nvPr/>
        </p:nvSpPr>
        <p:spPr>
          <a:xfrm flipH="false" flipV="false" rot="0">
            <a:off x="1951024" y="0"/>
            <a:ext cx="2109694" cy="2109694"/>
          </a:xfrm>
          <a:custGeom>
            <a:avLst/>
            <a:gdLst/>
            <a:ahLst/>
            <a:cxnLst/>
            <a:rect r="r" b="b" t="t" l="l"/>
            <a:pathLst>
              <a:path h="2109694" w="2109694">
                <a:moveTo>
                  <a:pt x="0" y="0"/>
                </a:moveTo>
                <a:lnTo>
                  <a:pt x="2109694" y="0"/>
                </a:lnTo>
                <a:lnTo>
                  <a:pt x="2109694" y="2109694"/>
                </a:lnTo>
                <a:lnTo>
                  <a:pt x="0" y="2109694"/>
                </a:lnTo>
                <a:lnTo>
                  <a:pt x="0" y="0"/>
                </a:lnTo>
                <a:close/>
              </a:path>
            </a:pathLst>
          </a:custGeom>
          <a:blipFill>
            <a:blip r:embed="rId3"/>
            <a:stretch>
              <a:fillRect l="0" t="0" r="0" b="0"/>
            </a:stretch>
          </a:blipFill>
        </p:spPr>
      </p:sp>
      <p:sp>
        <p:nvSpPr>
          <p:cNvPr name="Freeform 25" id="25"/>
          <p:cNvSpPr/>
          <p:nvPr/>
        </p:nvSpPr>
        <p:spPr>
          <a:xfrm flipH="false" flipV="false" rot="0">
            <a:off x="4835545" y="3767774"/>
            <a:ext cx="3532801" cy="3371520"/>
          </a:xfrm>
          <a:custGeom>
            <a:avLst/>
            <a:gdLst/>
            <a:ahLst/>
            <a:cxnLst/>
            <a:rect r="r" b="b" t="t" l="l"/>
            <a:pathLst>
              <a:path h="3371520" w="3532801">
                <a:moveTo>
                  <a:pt x="0" y="0"/>
                </a:moveTo>
                <a:lnTo>
                  <a:pt x="3532801" y="0"/>
                </a:lnTo>
                <a:lnTo>
                  <a:pt x="3532801" y="3371520"/>
                </a:lnTo>
                <a:lnTo>
                  <a:pt x="0" y="3371520"/>
                </a:lnTo>
                <a:lnTo>
                  <a:pt x="0" y="0"/>
                </a:lnTo>
                <a:close/>
              </a:path>
            </a:pathLst>
          </a:custGeom>
          <a:blipFill>
            <a:blip r:embed="rId4"/>
            <a:stretch>
              <a:fillRect l="0" t="-27057" r="0" b="-59224"/>
            </a:stretch>
          </a:blipFill>
        </p:spPr>
      </p:sp>
      <p:sp>
        <p:nvSpPr>
          <p:cNvPr name="TextBox 26" id="26"/>
          <p:cNvSpPr txBox="true"/>
          <p:nvPr/>
        </p:nvSpPr>
        <p:spPr>
          <a:xfrm rot="0">
            <a:off x="9210267" y="28438"/>
            <a:ext cx="2963466" cy="827893"/>
          </a:xfrm>
          <a:prstGeom prst="rect">
            <a:avLst/>
          </a:prstGeom>
        </p:spPr>
        <p:txBody>
          <a:bodyPr anchor="t" rtlCol="false" tIns="0" lIns="0" bIns="0" rIns="0">
            <a:spAutoFit/>
          </a:bodyPr>
          <a:lstStyle/>
          <a:p>
            <a:pPr algn="ctr">
              <a:lnSpc>
                <a:spcPts val="6868"/>
              </a:lnSpc>
            </a:pPr>
            <a:r>
              <a:rPr lang="en-US" sz="4905" b="true">
                <a:solidFill>
                  <a:srgbClr val="3A2947"/>
                </a:solidFill>
                <a:latin typeface="Canva Sans Bold"/>
                <a:ea typeface="Canva Sans Bold"/>
                <a:cs typeface="Canva Sans Bold"/>
                <a:sym typeface="Canva Sans Bold"/>
              </a:rPr>
              <a:t>WoodBull</a:t>
            </a:r>
          </a:p>
        </p:txBody>
      </p:sp>
      <p:sp>
        <p:nvSpPr>
          <p:cNvPr name="TextBox 27" id="27"/>
          <p:cNvSpPr txBox="true"/>
          <p:nvPr/>
        </p:nvSpPr>
        <p:spPr>
          <a:xfrm rot="0">
            <a:off x="6815251" y="820299"/>
            <a:ext cx="7753499" cy="372745"/>
          </a:xfrm>
          <a:prstGeom prst="rect">
            <a:avLst/>
          </a:prstGeom>
        </p:spPr>
        <p:txBody>
          <a:bodyPr anchor="t" rtlCol="false" tIns="0" lIns="0" bIns="0" rIns="0">
            <a:spAutoFit/>
          </a:bodyPr>
          <a:lstStyle/>
          <a:p>
            <a:pPr algn="ctr">
              <a:lnSpc>
                <a:spcPts val="3079"/>
              </a:lnSpc>
            </a:pPr>
            <a:r>
              <a:rPr lang="en-US" sz="2199" b="true">
                <a:solidFill>
                  <a:srgbClr val="3A2947"/>
                </a:solidFill>
                <a:latin typeface="Canva Sans Medium"/>
                <a:ea typeface="Canva Sans Medium"/>
                <a:cs typeface="Canva Sans Medium"/>
                <a:sym typeface="Canva Sans Medium"/>
              </a:rPr>
              <a:t>Hadil Amin    Mostafa Maged    Youssef Ali    Ahmed Ashraf</a:t>
            </a:r>
          </a:p>
        </p:txBody>
      </p:sp>
      <p:sp>
        <p:nvSpPr>
          <p:cNvPr name="TextBox 28" id="28"/>
          <p:cNvSpPr txBox="true"/>
          <p:nvPr/>
        </p:nvSpPr>
        <p:spPr>
          <a:xfrm rot="0">
            <a:off x="774835" y="2776742"/>
            <a:ext cx="1176189" cy="372745"/>
          </a:xfrm>
          <a:prstGeom prst="rect">
            <a:avLst/>
          </a:prstGeom>
        </p:spPr>
        <p:txBody>
          <a:bodyPr anchor="t" rtlCol="false" tIns="0" lIns="0" bIns="0" rIns="0">
            <a:spAutoFit/>
          </a:bodyPr>
          <a:lstStyle/>
          <a:p>
            <a:pPr algn="l">
              <a:lnSpc>
                <a:spcPts val="3079"/>
              </a:lnSpc>
            </a:pPr>
            <a:r>
              <a:rPr lang="en-US" sz="2199" b="true">
                <a:solidFill>
                  <a:srgbClr val="FBFBFB"/>
                </a:solidFill>
                <a:latin typeface="Canva Sans Bold"/>
                <a:ea typeface="Canva Sans Bold"/>
                <a:cs typeface="Canva Sans Bold"/>
                <a:sym typeface="Canva Sans Bold"/>
              </a:rPr>
              <a:t>Abstract</a:t>
            </a:r>
          </a:p>
        </p:txBody>
      </p:sp>
      <p:sp>
        <p:nvSpPr>
          <p:cNvPr name="TextBox 29" id="29"/>
          <p:cNvSpPr txBox="true"/>
          <p:nvPr/>
        </p:nvSpPr>
        <p:spPr>
          <a:xfrm rot="0">
            <a:off x="17170810" y="2778838"/>
            <a:ext cx="1533525" cy="372745"/>
          </a:xfrm>
          <a:prstGeom prst="rect">
            <a:avLst/>
          </a:prstGeom>
        </p:spPr>
        <p:txBody>
          <a:bodyPr anchor="t" rtlCol="false" tIns="0" lIns="0" bIns="0" rIns="0">
            <a:spAutoFit/>
          </a:bodyPr>
          <a:lstStyle/>
          <a:p>
            <a:pPr algn="l">
              <a:lnSpc>
                <a:spcPts val="3079"/>
              </a:lnSpc>
            </a:pPr>
            <a:r>
              <a:rPr lang="en-US" sz="2199" b="true">
                <a:solidFill>
                  <a:srgbClr val="FBFBFB"/>
                </a:solidFill>
                <a:latin typeface="Canva Sans Bold"/>
                <a:ea typeface="Canva Sans Bold"/>
                <a:cs typeface="Canva Sans Bold"/>
                <a:sym typeface="Canva Sans Bold"/>
              </a:rPr>
              <a:t>Conclusion</a:t>
            </a:r>
          </a:p>
        </p:txBody>
      </p:sp>
      <p:sp>
        <p:nvSpPr>
          <p:cNvPr name="TextBox 30" id="30"/>
          <p:cNvSpPr txBox="true"/>
          <p:nvPr/>
        </p:nvSpPr>
        <p:spPr>
          <a:xfrm rot="0">
            <a:off x="13076508" y="2778838"/>
            <a:ext cx="2750225" cy="372745"/>
          </a:xfrm>
          <a:prstGeom prst="rect">
            <a:avLst/>
          </a:prstGeom>
        </p:spPr>
        <p:txBody>
          <a:bodyPr anchor="t" rtlCol="false" tIns="0" lIns="0" bIns="0" rIns="0">
            <a:spAutoFit/>
          </a:bodyPr>
          <a:lstStyle/>
          <a:p>
            <a:pPr algn="l">
              <a:lnSpc>
                <a:spcPts val="3079"/>
              </a:lnSpc>
            </a:pPr>
            <a:r>
              <a:rPr lang="en-US" sz="2199" b="true">
                <a:solidFill>
                  <a:srgbClr val="FBFBFB"/>
                </a:solidFill>
                <a:latin typeface="Canva Sans Bold"/>
                <a:ea typeface="Canva Sans Bold"/>
                <a:cs typeface="Canva Sans Bold"/>
                <a:sym typeface="Canva Sans Bold"/>
              </a:rPr>
              <a:t>Customer Segments</a:t>
            </a:r>
          </a:p>
        </p:txBody>
      </p:sp>
      <p:sp>
        <p:nvSpPr>
          <p:cNvPr name="TextBox 31" id="31"/>
          <p:cNvSpPr txBox="true"/>
          <p:nvPr/>
        </p:nvSpPr>
        <p:spPr>
          <a:xfrm rot="0">
            <a:off x="4871664" y="2780934"/>
            <a:ext cx="1822698" cy="372745"/>
          </a:xfrm>
          <a:prstGeom prst="rect">
            <a:avLst/>
          </a:prstGeom>
        </p:spPr>
        <p:txBody>
          <a:bodyPr anchor="t" rtlCol="false" tIns="0" lIns="0" bIns="0" rIns="0">
            <a:spAutoFit/>
          </a:bodyPr>
          <a:lstStyle/>
          <a:p>
            <a:pPr algn="l">
              <a:lnSpc>
                <a:spcPts val="3079"/>
              </a:lnSpc>
            </a:pPr>
            <a:r>
              <a:rPr lang="en-US" sz="2199" b="true">
                <a:solidFill>
                  <a:srgbClr val="FBFBFB"/>
                </a:solidFill>
                <a:latin typeface="Canva Sans Bold"/>
                <a:ea typeface="Canva Sans Bold"/>
                <a:cs typeface="Canva Sans Bold"/>
                <a:sym typeface="Canva Sans Bold"/>
              </a:rPr>
              <a:t>Methodology</a:t>
            </a:r>
          </a:p>
        </p:txBody>
      </p:sp>
      <p:sp>
        <p:nvSpPr>
          <p:cNvPr name="TextBox 32" id="32"/>
          <p:cNvSpPr txBox="true"/>
          <p:nvPr/>
        </p:nvSpPr>
        <p:spPr>
          <a:xfrm rot="0">
            <a:off x="774835" y="10798486"/>
            <a:ext cx="1995845" cy="372745"/>
          </a:xfrm>
          <a:prstGeom prst="rect">
            <a:avLst/>
          </a:prstGeom>
        </p:spPr>
        <p:txBody>
          <a:bodyPr anchor="t" rtlCol="false" tIns="0" lIns="0" bIns="0" rIns="0">
            <a:spAutoFit/>
          </a:bodyPr>
          <a:lstStyle/>
          <a:p>
            <a:pPr algn="l">
              <a:lnSpc>
                <a:spcPts val="3079"/>
              </a:lnSpc>
            </a:pPr>
            <a:r>
              <a:rPr lang="en-US" sz="2199" b="true">
                <a:solidFill>
                  <a:srgbClr val="FBFBFB"/>
                </a:solidFill>
                <a:latin typeface="Canva Sans Bold"/>
                <a:ea typeface="Canva Sans Bold"/>
                <a:cs typeface="Canva Sans Bold"/>
                <a:sym typeface="Canva Sans Bold"/>
              </a:rPr>
              <a:t>Cost Structure</a:t>
            </a:r>
          </a:p>
        </p:txBody>
      </p:sp>
      <p:sp>
        <p:nvSpPr>
          <p:cNvPr name="TextBox 33" id="33"/>
          <p:cNvSpPr txBox="true"/>
          <p:nvPr/>
        </p:nvSpPr>
        <p:spPr>
          <a:xfrm rot="0">
            <a:off x="4879544" y="10577818"/>
            <a:ext cx="1001167" cy="372745"/>
          </a:xfrm>
          <a:prstGeom prst="rect">
            <a:avLst/>
          </a:prstGeom>
        </p:spPr>
        <p:txBody>
          <a:bodyPr anchor="t" rtlCol="false" tIns="0" lIns="0" bIns="0" rIns="0">
            <a:spAutoFit/>
          </a:bodyPr>
          <a:lstStyle/>
          <a:p>
            <a:pPr algn="l">
              <a:lnSpc>
                <a:spcPts val="3079"/>
              </a:lnSpc>
            </a:pPr>
            <a:r>
              <a:rPr lang="en-US" sz="2199" b="true">
                <a:solidFill>
                  <a:srgbClr val="FBFBFB"/>
                </a:solidFill>
                <a:latin typeface="Canva Sans Bold"/>
                <a:ea typeface="Canva Sans Bold"/>
                <a:cs typeface="Canva Sans Bold"/>
                <a:sym typeface="Canva Sans Bold"/>
              </a:rPr>
              <a:t>Results</a:t>
            </a:r>
          </a:p>
        </p:txBody>
      </p:sp>
      <p:sp>
        <p:nvSpPr>
          <p:cNvPr name="TextBox 34" id="34"/>
          <p:cNvSpPr txBox="true"/>
          <p:nvPr/>
        </p:nvSpPr>
        <p:spPr>
          <a:xfrm rot="0">
            <a:off x="7951365" y="1278002"/>
            <a:ext cx="5481270" cy="637672"/>
          </a:xfrm>
          <a:prstGeom prst="rect">
            <a:avLst/>
          </a:prstGeom>
        </p:spPr>
        <p:txBody>
          <a:bodyPr anchor="t" rtlCol="false" tIns="0" lIns="0" bIns="0" rIns="0">
            <a:spAutoFit/>
          </a:bodyPr>
          <a:lstStyle/>
          <a:p>
            <a:pPr algn="l">
              <a:lnSpc>
                <a:spcPts val="2587"/>
              </a:lnSpc>
            </a:pPr>
            <a:r>
              <a:rPr lang="en-US" sz="1847">
                <a:solidFill>
                  <a:srgbClr val="3A2947"/>
                </a:solidFill>
                <a:latin typeface="Canva Sans"/>
                <a:ea typeface="Canva Sans"/>
                <a:cs typeface="Canva Sans"/>
                <a:sym typeface="Canva Sans"/>
              </a:rPr>
              <a:t>Image Processing for Mechatronics (MCTR1010) </a:t>
            </a:r>
          </a:p>
          <a:p>
            <a:pPr algn="ctr">
              <a:lnSpc>
                <a:spcPts val="2587"/>
              </a:lnSpc>
            </a:pPr>
            <a:r>
              <a:rPr lang="en-US" sz="1847">
                <a:solidFill>
                  <a:srgbClr val="3A2947"/>
                </a:solidFill>
                <a:latin typeface="Canva Sans"/>
                <a:ea typeface="Canva Sans"/>
                <a:cs typeface="Canva Sans"/>
                <a:sym typeface="Canva Sans"/>
              </a:rPr>
              <a:t>Spring 2026</a:t>
            </a:r>
          </a:p>
        </p:txBody>
      </p:sp>
      <p:sp>
        <p:nvSpPr>
          <p:cNvPr name="TextBox 35" id="35"/>
          <p:cNvSpPr txBox="true"/>
          <p:nvPr/>
        </p:nvSpPr>
        <p:spPr>
          <a:xfrm rot="0">
            <a:off x="15884035" y="614317"/>
            <a:ext cx="4892693" cy="790327"/>
          </a:xfrm>
          <a:prstGeom prst="rect">
            <a:avLst/>
          </a:prstGeom>
        </p:spPr>
        <p:txBody>
          <a:bodyPr anchor="t" rtlCol="false" tIns="0" lIns="0" bIns="0" rIns="0">
            <a:spAutoFit/>
          </a:bodyPr>
          <a:lstStyle/>
          <a:p>
            <a:pPr algn="ctr">
              <a:lnSpc>
                <a:spcPts val="2113"/>
              </a:lnSpc>
            </a:pPr>
            <a:r>
              <a:rPr lang="en-US" sz="1509">
                <a:solidFill>
                  <a:srgbClr val="3A2947"/>
                </a:solidFill>
                <a:latin typeface="Canva Sans"/>
                <a:ea typeface="Canva Sans"/>
                <a:cs typeface="Canva Sans"/>
                <a:sym typeface="Canva Sans"/>
              </a:rPr>
              <a:t>Assoc. Prof. Dr. Eng. Omar M. Shehata, Eng. Dalia M. Mahfouz, PhD, Eng. Abdelrahman Hatem, MSc. and Eng. Mohammed Ashraf</a:t>
            </a:r>
          </a:p>
        </p:txBody>
      </p:sp>
      <p:sp>
        <p:nvSpPr>
          <p:cNvPr name="TextBox 36" id="36"/>
          <p:cNvSpPr txBox="true"/>
          <p:nvPr/>
        </p:nvSpPr>
        <p:spPr>
          <a:xfrm rot="0">
            <a:off x="722968" y="3619250"/>
            <a:ext cx="3531289" cy="10324465"/>
          </a:xfrm>
          <a:prstGeom prst="rect">
            <a:avLst/>
          </a:prstGeom>
        </p:spPr>
        <p:txBody>
          <a:bodyPr anchor="t" rtlCol="false" tIns="0" lIns="0" bIns="0" rIns="0">
            <a:spAutoFit/>
          </a:bodyPr>
          <a:lstStyle/>
          <a:p>
            <a:pPr algn="l">
              <a:lnSpc>
                <a:spcPts val="2660"/>
              </a:lnSpc>
            </a:pPr>
            <a:r>
              <a:rPr lang="en-US" sz="1900">
                <a:solidFill>
                  <a:srgbClr val="3A2947"/>
                </a:solidFill>
                <a:latin typeface="Canva Sans"/>
                <a:ea typeface="Canva Sans"/>
                <a:cs typeface="Canva Sans"/>
                <a:sym typeface="Canva Sans"/>
              </a:rPr>
              <a:t>This project presents WoodBull, a mobile robot designed to follow a red scarf using vision-based techniques. The system relies on an Xbox Kinect camera to capture both color and depth information from the environment. </a:t>
            </a:r>
          </a:p>
          <a:p>
            <a:pPr algn="l">
              <a:lnSpc>
                <a:spcPts val="2660"/>
              </a:lnSpc>
            </a:pPr>
          </a:p>
          <a:p>
            <a:pPr algn="l">
              <a:lnSpc>
                <a:spcPts val="2660"/>
              </a:lnSpc>
            </a:pPr>
            <a:r>
              <a:rPr lang="en-US" sz="1900">
                <a:solidFill>
                  <a:srgbClr val="3A2947"/>
                </a:solidFill>
                <a:latin typeface="Canva Sans"/>
                <a:ea typeface="Canva Sans"/>
                <a:cs typeface="Canva Sans"/>
                <a:sym typeface="Canva Sans"/>
              </a:rPr>
              <a:t>Image processing methods were applied to detect the red color of the scarf and track its position in real time, while depth data was used to estimate distance and guide the robot’s movement safely and accurately. </a:t>
            </a:r>
          </a:p>
          <a:p>
            <a:pPr algn="l">
              <a:lnSpc>
                <a:spcPts val="2660"/>
              </a:lnSpc>
            </a:pPr>
          </a:p>
          <a:p>
            <a:pPr algn="l">
              <a:lnSpc>
                <a:spcPts val="2660"/>
              </a:lnSpc>
            </a:pPr>
            <a:r>
              <a:rPr lang="en-US" sz="1900">
                <a:solidFill>
                  <a:srgbClr val="3A2947"/>
                </a:solidFill>
                <a:latin typeface="Canva Sans"/>
                <a:ea typeface="Canva Sans"/>
                <a:cs typeface="Canva Sans"/>
                <a:sym typeface="Canva Sans"/>
              </a:rPr>
              <a:t>By combining color detection with depth sensing, the robot is able to follow a moving target in a dynamic environment. </a:t>
            </a:r>
          </a:p>
          <a:p>
            <a:pPr algn="l">
              <a:lnSpc>
                <a:spcPts val="2660"/>
              </a:lnSpc>
            </a:pPr>
          </a:p>
          <a:p>
            <a:pPr algn="l">
              <a:lnSpc>
                <a:spcPts val="2660"/>
              </a:lnSpc>
            </a:pPr>
            <a:r>
              <a:rPr lang="en-US" sz="1900">
                <a:solidFill>
                  <a:srgbClr val="3A2947"/>
                </a:solidFill>
                <a:latin typeface="Canva Sans"/>
                <a:ea typeface="Canva Sans"/>
                <a:cs typeface="Canva Sans"/>
                <a:sym typeface="Canva Sans"/>
              </a:rPr>
              <a:t>The project demonstrates how relatively simple image processing techniques can be integrated with hardware to create an interactive and responsive robotic system.</a:t>
            </a:r>
          </a:p>
        </p:txBody>
      </p:sp>
      <p:sp>
        <p:nvSpPr>
          <p:cNvPr name="TextBox 37" id="37"/>
          <p:cNvSpPr txBox="true"/>
          <p:nvPr/>
        </p:nvSpPr>
        <p:spPr>
          <a:xfrm rot="0">
            <a:off x="17142610" y="3619250"/>
            <a:ext cx="3531289" cy="5657215"/>
          </a:xfrm>
          <a:prstGeom prst="rect">
            <a:avLst/>
          </a:prstGeom>
        </p:spPr>
        <p:txBody>
          <a:bodyPr anchor="t" rtlCol="false" tIns="0" lIns="0" bIns="0" rIns="0">
            <a:spAutoFit/>
          </a:bodyPr>
          <a:lstStyle/>
          <a:p>
            <a:pPr algn="l">
              <a:lnSpc>
                <a:spcPts val="2660"/>
              </a:lnSpc>
            </a:pPr>
            <a:r>
              <a:rPr lang="en-US" sz="1900">
                <a:solidFill>
                  <a:srgbClr val="3A2947"/>
                </a:solidFill>
                <a:latin typeface="Canva Sans"/>
                <a:ea typeface="Canva Sans"/>
                <a:cs typeface="Canva Sans"/>
                <a:sym typeface="Canva Sans"/>
              </a:rPr>
              <a:t>WoodBull demonstrates how image processing and depth sensing can be effectively combined to achieve real-time target tracking. By using a Kinect camera for color and depth information, the robot was able to detect and follow a red scarf with good accuracy. </a:t>
            </a:r>
          </a:p>
          <a:p>
            <a:pPr algn="l">
              <a:lnSpc>
                <a:spcPts val="2660"/>
              </a:lnSpc>
            </a:pPr>
          </a:p>
          <a:p>
            <a:pPr algn="l">
              <a:lnSpc>
                <a:spcPts val="2660"/>
              </a:lnSpc>
            </a:pPr>
            <a:r>
              <a:rPr lang="en-US" sz="1900">
                <a:solidFill>
                  <a:srgbClr val="3A2947"/>
                </a:solidFill>
                <a:latin typeface="Canva Sans"/>
                <a:ea typeface="Canva Sans"/>
                <a:cs typeface="Canva Sans"/>
                <a:sym typeface="Canva Sans"/>
              </a:rPr>
              <a:t>The project highlights the practical use of vision-based techniques in mobile robotics and provides a foundation for more advanced autonomous tracking systems.</a:t>
            </a:r>
          </a:p>
        </p:txBody>
      </p:sp>
      <p:sp>
        <p:nvSpPr>
          <p:cNvPr name="TextBox 38" id="38"/>
          <p:cNvSpPr txBox="true"/>
          <p:nvPr/>
        </p:nvSpPr>
        <p:spPr>
          <a:xfrm rot="0">
            <a:off x="8500668" y="4106064"/>
            <a:ext cx="8150407" cy="2656840"/>
          </a:xfrm>
          <a:prstGeom prst="rect">
            <a:avLst/>
          </a:prstGeom>
        </p:spPr>
        <p:txBody>
          <a:bodyPr anchor="t" rtlCol="false" tIns="0" lIns="0" bIns="0" rIns="0">
            <a:spAutoFit/>
          </a:bodyPr>
          <a:lstStyle/>
          <a:p>
            <a:pPr algn="l">
              <a:lnSpc>
                <a:spcPts val="2660"/>
              </a:lnSpc>
            </a:pPr>
            <a:r>
              <a:rPr lang="en-US" sz="1900">
                <a:solidFill>
                  <a:srgbClr val="3A2947"/>
                </a:solidFill>
                <a:latin typeface="Canva Sans"/>
                <a:ea typeface="Canva Sans"/>
                <a:cs typeface="Canva Sans"/>
                <a:sym typeface="Canva Sans"/>
              </a:rPr>
              <a:t>The system uses an Xbox Kinect camera mounted on the robot to capture synchronized RGB and depth frames in real time. Color-based detection is performed by converting each RGB frame to the HSV color space, which separates hue from lighting intensity and makes red detection more robust under varying illumination. A binary mask is applied to isolate pixels within the red hue range, and morphological operations (erosion and dilation) are used to remove noise and fill gaps in the detected region.</a:t>
            </a:r>
          </a:p>
        </p:txBody>
      </p:sp>
      <p:sp>
        <p:nvSpPr>
          <p:cNvPr name="TextBox 39" id="39"/>
          <p:cNvSpPr txBox="true"/>
          <p:nvPr/>
        </p:nvSpPr>
        <p:spPr>
          <a:xfrm rot="0">
            <a:off x="4831523" y="7286375"/>
            <a:ext cx="11720953" cy="1990090"/>
          </a:xfrm>
          <a:prstGeom prst="rect">
            <a:avLst/>
          </a:prstGeom>
        </p:spPr>
        <p:txBody>
          <a:bodyPr anchor="t" rtlCol="false" tIns="0" lIns="0" bIns="0" rIns="0">
            <a:spAutoFit/>
          </a:bodyPr>
          <a:lstStyle/>
          <a:p>
            <a:pPr algn="l">
              <a:lnSpc>
                <a:spcPts val="2660"/>
              </a:lnSpc>
            </a:pPr>
            <a:r>
              <a:rPr lang="en-US" sz="1900">
                <a:solidFill>
                  <a:srgbClr val="3A2947"/>
                </a:solidFill>
                <a:latin typeface="Canva Sans"/>
                <a:ea typeface="Canva Sans"/>
                <a:cs typeface="Canva Sans"/>
                <a:sym typeface="Canva Sans"/>
              </a:rPr>
              <a:t>The centroid of the largest red contour is then computed to determine the target's 2D position in the image frame. The Kinect's depth stream maps this pixel position to a real-world distance, giving the robot both the direction and range of the target. A simple proportional controller translates this information into left/right wheel speed commands: if the centroid drifts left or right of the image center, the robot steers accordingly, and if the target distance exceeds a threshold, the robot moves forward.</a:t>
            </a:r>
          </a:p>
        </p:txBody>
      </p:sp>
      <p:sp>
        <p:nvSpPr>
          <p:cNvPr name="TextBox 40" id="40"/>
          <p:cNvSpPr txBox="true"/>
          <p:nvPr/>
        </p:nvSpPr>
        <p:spPr>
          <a:xfrm rot="0">
            <a:off x="4834606" y="11572634"/>
            <a:ext cx="15668368" cy="1656715"/>
          </a:xfrm>
          <a:prstGeom prst="rect">
            <a:avLst/>
          </a:prstGeom>
        </p:spPr>
        <p:txBody>
          <a:bodyPr anchor="t" rtlCol="false" tIns="0" lIns="0" bIns="0" rIns="0">
            <a:spAutoFit/>
          </a:bodyPr>
          <a:lstStyle/>
          <a:p>
            <a:pPr algn="l">
              <a:lnSpc>
                <a:spcPts val="2660"/>
              </a:lnSpc>
            </a:pPr>
            <a:r>
              <a:rPr lang="en-US" sz="1900">
                <a:solidFill>
                  <a:srgbClr val="3A2947"/>
                </a:solidFill>
                <a:latin typeface="Canva Sans"/>
                <a:ea typeface="Canva Sans"/>
                <a:cs typeface="Canva Sans"/>
                <a:sym typeface="Canva Sans"/>
              </a:rPr>
              <a:t>The robot successfully detected and followed the red scarf across multiple test runs in an indoor environment. Color detection remained stable under moderate lighting variation, with the HSV-based mask reliably isolating the target even when partially occluded. The robot maintained a consistent following distance and corrected its heading smoothly when the scarf moved laterally. Depth integration prevented the robot from colliding with the target by stopping forward motion once within a safe range. Overall, the system demonstrated reliable real-time tracking with low latency between target movement and robot response.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DAHIvliLqBs</dc:identifier>
  <dcterms:modified xsi:type="dcterms:W3CDTF">2011-08-01T06:04:30Z</dcterms:modified>
  <cp:revision>1</cp:revision>
  <dc:title>Image Poster</dc:title>
</cp:coreProperties>
</file>